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Large Language Models</a:t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&amp; Why Decode Is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D6E6F4"/>
                </a:solidFill>
                <a:latin typeface="Calibri"/>
              </a:rPr>
              <a:t>Section 2.1  —  Foundations of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6B737B"/>
                </a:solidFill>
                <a:latin typeface="Calibri"/>
              </a:rPr>
              <a:t>blue = compute / Prefill          red = memory / Decode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PART 0  — 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222B33"/>
                </a:solidFill>
                <a:latin typeface="Calibri"/>
              </a:rPr>
              <a:t>What an LLM is, before we talk about speed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2B33"/>
                </a:solidFill>
                <a:latin typeface="Calibri"/>
              </a:rPr>
              <a:t>P1  ·  What is an LLM?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22B33"/>
                </a:solidFill>
                <a:latin typeface="Calibri"/>
              </a:rPr>
              <a:t>An LLM does exactly ONE thing:  predict the next token.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4206240" cy="914400"/>
          </a:xfrm>
          <a:prstGeom prst="round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"The cat sat on the ___"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0" y="2468880"/>
            <a:ext cx="118872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172200" y="2057400"/>
            <a:ext cx="1554480" cy="82296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18120" y="2468880"/>
            <a:ext cx="105156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75320" y="17190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2B33"/>
                </a:solidFill>
                <a:latin typeface="Calibri"/>
              </a:rPr>
              <a:t>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737360"/>
            <a:ext cx="1644091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69803" y="17190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B737B"/>
                </a:solidFill>
                <a:latin typeface="Calibri"/>
              </a:rPr>
              <a:t>62%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860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 i="0">
                <a:solidFill>
                  <a:srgbClr val="222B33"/>
                </a:solidFill>
                <a:latin typeface="Calibri"/>
              </a:rPr>
              <a:t>floor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2304288"/>
            <a:ext cx="477316" cy="365760"/>
          </a:xfrm>
          <a:prstGeom prst="rect">
            <a:avLst/>
          </a:prstGeom>
          <a:solidFill>
            <a:srgbClr val="6B7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3028" y="22860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37B"/>
                </a:solidFill>
                <a:latin typeface="Calibri"/>
              </a:rPr>
              <a:t>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852927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 i="0">
                <a:solidFill>
                  <a:srgbClr val="222B33"/>
                </a:solidFill>
                <a:latin typeface="Calibri"/>
              </a:rPr>
              <a:t>roof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871215"/>
            <a:ext cx="238658" cy="365760"/>
          </a:xfrm>
          <a:prstGeom prst="rect">
            <a:avLst/>
          </a:prstGeom>
          <a:solidFill>
            <a:srgbClr val="6B7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4370" y="2852927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37B"/>
                </a:solidFill>
                <a:latin typeface="Calibri"/>
              </a:rPr>
              <a:t>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41985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 i="0">
                <a:solidFill>
                  <a:srgbClr val="222B33"/>
                </a:solidFill>
                <a:latin typeface="Calibri"/>
              </a:rPr>
              <a:t>box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3438144"/>
            <a:ext cx="228600" cy="365760"/>
          </a:xfrm>
          <a:prstGeom prst="rect">
            <a:avLst/>
          </a:prstGeom>
          <a:solidFill>
            <a:srgbClr val="6B7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8300" y="341985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37B"/>
                </a:solidFill>
                <a:latin typeface="Calibri"/>
              </a:rPr>
              <a:t>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986784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 i="0">
                <a:solidFill>
                  <a:srgbClr val="222B33"/>
                </a:solidFill>
                <a:latin typeface="Calibri"/>
              </a:rPr>
              <a:t>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4005072"/>
            <a:ext cx="228600" cy="365760"/>
          </a:xfrm>
          <a:prstGeom prst="rect">
            <a:avLst/>
          </a:prstGeom>
          <a:solidFill>
            <a:srgbClr val="6B7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8747" y="3986784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37B"/>
                </a:solidFill>
                <a:latin typeface="Calibri"/>
              </a:rPr>
              <a:t>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72800" cy="1005840"/>
          </a:xfrm>
          <a:prstGeom prst="roundRect">
            <a:avLst/>
          </a:prstGeom>
          <a:solidFill>
            <a:srgbClr val="F6DEDB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700" b="0" i="0">
                <a:solidFill>
                  <a:srgbClr val="222B33"/>
                </a:solidFill>
                <a:latin typeface="Calibri"/>
              </a:rPr>
              <a:t>It outputs a probability for every possible next word → pick the top one → append → repeat.</a:t>
            </a:r>
          </a:p>
          <a:p>
            <a:pPr algn="ctr"/>
            <a:r>
              <a:rPr sz="1700" b="0" i="0">
                <a:solidFill>
                  <a:srgbClr val="222B33"/>
                </a:solidFill>
                <a:latin typeface="Calibri"/>
              </a:rPr>
              <a:t>Generating text = doing this tiny prediction over and over.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37B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2B33"/>
                </a:solidFill>
                <a:latin typeface="Calibri"/>
              </a:rPr>
              <a:t>P2  ·  Text → Tokens →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2B33"/>
                </a:solidFill>
                <a:latin typeface="Calibri"/>
              </a:rPr>
              <a:t>How words become math (computers only understand numbers).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377440" cy="914400"/>
          </a:xfrm>
          <a:prstGeom prst="round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"unbelievable"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2560320"/>
            <a:ext cx="82296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77639" y="1965960"/>
            <a:ext cx="1737360" cy="118872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TOKENIZER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(split into pieces)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06440" y="2560320"/>
            <a:ext cx="77724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29400" y="2103120"/>
            <a:ext cx="2560320" cy="914400"/>
          </a:xfrm>
          <a:prstGeom prst="roundRect">
            <a:avLst/>
          </a:prstGeom>
          <a:solidFill>
            <a:srgbClr val="ECF0F3"/>
          </a:solidFill>
          <a:ln w="12700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500" b="1" i="0">
                <a:solidFill>
                  <a:srgbClr val="222B33"/>
                </a:solidFill>
                <a:latin typeface="Calibri"/>
              </a:rPr>
              <a:t>["un", "believ", "able"]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46320" y="3246120"/>
            <a:ext cx="0" cy="68580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91840" y="3977639"/>
            <a:ext cx="1737360" cy="91440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EMBEDDING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4434840"/>
            <a:ext cx="91440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60" y="3977639"/>
            <a:ext cx="3657600" cy="914400"/>
          </a:xfrm>
          <a:prstGeom prst="roundRect">
            <a:avLst/>
          </a:prstGeom>
          <a:solidFill>
            <a:srgbClr val="ECF0F3"/>
          </a:solidFill>
          <a:ln w="12700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500" b="1" i="0">
                <a:solidFill>
                  <a:srgbClr val="222B33"/>
                </a:solidFill>
                <a:latin typeface="Calibri"/>
              </a:rPr>
              <a:t>[ 0.2, -1.3, 0.9, 0.4, ... ]</a:t>
            </a:r>
          </a:p>
          <a:p>
            <a:pPr algn="ctr"/>
            <a:r>
              <a:rPr sz="1500" b="1" i="0">
                <a:solidFill>
                  <a:srgbClr val="222B33"/>
                </a:solidFill>
                <a:latin typeface="Calibri"/>
              </a:rPr>
              <a:t>each token → a vector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69280"/>
            <a:ext cx="10972800" cy="868680"/>
          </a:xfrm>
          <a:prstGeom prst="roundRect">
            <a:avLst/>
          </a:prstGeom>
          <a:solidFill>
            <a:srgbClr val="D6E6F4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700" b="1" i="0">
                <a:solidFill>
                  <a:srgbClr val="222B33"/>
                </a:solidFill>
                <a:latin typeface="Calibri"/>
              </a:rPr>
              <a:t>Meaning becomes geometry:   king − man + woman  ≈  queen   (vectors that are close = meanings that are similar)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37B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2B33"/>
                </a:solidFill>
                <a:latin typeface="Calibri"/>
              </a:rPr>
              <a:t>P3  ·  Parameters = Stored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2B33"/>
                </a:solidFill>
                <a:latin typeface="Calibri"/>
              </a:rPr>
              <a:t>An LLM is a giant function with millions of tunable numbers ('weights').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103120"/>
            <a:ext cx="4206240" cy="146304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SmolLM2-135M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22B33"/>
                </a:solidFill>
                <a:latin typeface="Calibri"/>
              </a:rPr>
              <a:t>135,000,000 parameters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0" y="2834640"/>
            <a:ext cx="1005840" cy="0"/>
          </a:xfrm>
          <a:prstGeom prst="line">
            <a:avLst/>
          </a:prstGeom>
          <a:ln w="38100">
            <a:solidFill>
              <a:srgbClr val="222B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720840" y="2194560"/>
            <a:ext cx="4754880" cy="1371600"/>
          </a:xfrm>
          <a:prstGeom prst="roundRect">
            <a:avLst/>
          </a:prstGeom>
          <a:solidFill>
            <a:srgbClr val="ECF0F3"/>
          </a:solidFill>
          <a:ln w="12700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222B33"/>
                </a:solidFill>
                <a:latin typeface="Calibri"/>
              </a:rPr>
              <a:t>Every weight must be STORED in memory</a:t>
            </a:r>
          </a:p>
          <a:p>
            <a:pPr algn="ctr"/>
            <a:r>
              <a:rPr sz="1600" b="1" i="0">
                <a:solidFill>
                  <a:srgbClr val="222B33"/>
                </a:solidFill>
                <a:latin typeface="Calibri"/>
              </a:rPr>
              <a:t>and READ for each token generated.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80560"/>
            <a:ext cx="10424160" cy="1463040"/>
          </a:xfrm>
          <a:prstGeom prst="roundRect">
            <a:avLst/>
          </a:prstGeom>
          <a:solidFill>
            <a:srgbClr val="F6DEDB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700" b="0" i="0">
                <a:solidFill>
                  <a:srgbClr val="222B33"/>
                </a:solidFill>
                <a:latin typeface="Calibri"/>
              </a:rPr>
              <a:t>⚠  Seed of the whole story:</a:t>
            </a:r>
          </a:p>
          <a:p>
            <a:pPr algn="ctr"/>
            <a:r>
              <a:rPr sz="1700" b="0" i="0">
                <a:solidFill>
                  <a:srgbClr val="222B33"/>
                </a:solidFill>
                <a:latin typeface="Calibri"/>
              </a:rPr>
              <a:t>reading all these numbers, for every single token, is the bottleneck we'll meet soon.</a:t>
            </a:r>
          </a:p>
          <a:p>
            <a:pPr algn="ctr"/>
            <a:r>
              <a:rPr sz="1700" b="0" i="0">
                <a:solidFill>
                  <a:srgbClr val="222B33"/>
                </a:solidFill>
                <a:latin typeface="Calibri"/>
              </a:rPr>
              <a:t>135M params → ~141 MB at INT4 → must fit in the board's DDR3.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37B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2B33"/>
                </a:solidFill>
                <a:latin typeface="Calibri"/>
              </a:rPr>
              <a:t>P4  ·  Train Once, Run Forever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937760" cy="2377440"/>
          </a:xfrm>
          <a:prstGeom prst="roundRect">
            <a:avLst/>
          </a:prstGeom>
          <a:solidFill>
            <a:srgbClr val="ECF0F3"/>
          </a:solidFill>
          <a:ln w="254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F6FB2"/>
                </a:solidFill>
                <a:latin typeface="Calibri"/>
              </a:rPr>
              <a:t>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done ONCE · takes weeks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needs many GPUs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learns the weights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then weights are FROZEN 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06440" y="2743200"/>
            <a:ext cx="822960" cy="0"/>
          </a:xfrm>
          <a:prstGeom prst="line">
            <a:avLst/>
          </a:prstGeom>
          <a:ln w="50800">
            <a:solidFill>
              <a:srgbClr val="222B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0" y="2880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37B"/>
                </a:solidFill>
                <a:latin typeface="Calibri"/>
              </a:rPr>
              <a:t>weights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554480"/>
            <a:ext cx="4937760" cy="2377440"/>
          </a:xfrm>
          <a:prstGeom prst="roundRect">
            <a:avLst/>
          </a:prstGeom>
          <a:solidFill>
            <a:srgbClr val="F6DEDB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  <a:latin typeface="Calibri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done EVERY request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weights are fixed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prompt in → output out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← OUR project lives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80560"/>
            <a:ext cx="10424160" cy="1188720"/>
          </a:xfrm>
          <a:prstGeom prst="roundRect">
            <a:avLst/>
          </a:prstGeom>
          <a:solidFill>
            <a:srgbClr val="ECF0F3"/>
          </a:solidFill>
          <a:ln w="12700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 i="0">
                <a:solidFill>
                  <a:srgbClr val="222B33"/>
                </a:solidFill>
                <a:latin typeface="Calibri"/>
              </a:rPr>
              <a:t>Training learns the numbers.  Inference uses them.  We only do inference.</a:t>
            </a:r>
          </a:p>
          <a:p>
            <a:pPr algn="ctr"/>
            <a:r>
              <a:rPr sz="1800" b="1" i="0">
                <a:solidFill>
                  <a:srgbClr val="222B33"/>
                </a:solidFill>
                <a:latin typeface="Calibri"/>
              </a:rPr>
              <a:t>And inference itself splits into TWO phases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37B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2B33"/>
                </a:solidFill>
                <a:latin typeface="Calibri"/>
              </a:rPr>
              <a:t>P5  ·  The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2B33"/>
                </a:solidFill>
                <a:latin typeface="Calibri"/>
              </a:rPr>
              <a:t>Every modern LLM = a stack of identical decoder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4297680"/>
            <a:ext cx="4297680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DECODER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3584448"/>
            <a:ext cx="4297680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DECODER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871216"/>
            <a:ext cx="4297680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DECODER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157984"/>
            <a:ext cx="4297680" cy="566928"/>
          </a:xfrm>
          <a:prstGeom prst="round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DECODER LAYER  ( × 30 )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 i="0">
                <a:solidFill>
                  <a:srgbClr val="222B33"/>
                </a:solidFill>
                <a:latin typeface="Calibri"/>
              </a:rPr>
              <a:t>text  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4572000"/>
            <a:ext cx="9144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080760" y="1325880"/>
            <a:ext cx="0" cy="36576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66560" y="13258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B33"/>
                </a:solidFill>
                <a:latin typeface="Calibri"/>
              </a:rPr>
              <a:t>next token 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286000"/>
            <a:ext cx="3017520" cy="2194560"/>
          </a:xfrm>
          <a:prstGeom prst="roundRect">
            <a:avLst/>
          </a:prstGeom>
          <a:solidFill>
            <a:srgbClr val="ECF0F3"/>
          </a:solidFill>
          <a:ln w="12700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222B33"/>
                </a:solidFill>
                <a:latin typeface="Calibri"/>
              </a:rPr>
              <a:t>each layer =</a:t>
            </a:r>
          </a:p>
          <a:p>
            <a:pPr algn="ctr"/>
            <a:r>
              <a:rPr sz="1600" b="1" i="0">
                <a:solidFill>
                  <a:srgbClr val="222B33"/>
                </a:solidFill>
                <a:latin typeface="Calibri"/>
              </a:rPr>
              <a:t/>
            </a:r>
          </a:p>
          <a:p>
            <a:pPr algn="ctr"/>
            <a:r>
              <a:rPr sz="1600" b="1" i="0">
                <a:solidFill>
                  <a:srgbClr val="222B33"/>
                </a:solidFill>
                <a:latin typeface="Calibri"/>
              </a:rPr>
              <a:t>Attention</a:t>
            </a:r>
          </a:p>
          <a:p>
            <a:pPr algn="ctr"/>
            <a:r>
              <a:rPr sz="1600" b="1" i="0">
                <a:solidFill>
                  <a:srgbClr val="222B33"/>
                </a:solidFill>
                <a:latin typeface="Calibri"/>
              </a:rPr>
              <a:t>+</a:t>
            </a:r>
          </a:p>
          <a:p>
            <a:pPr algn="ctr"/>
            <a:r>
              <a:rPr sz="1600" b="1" i="0">
                <a:solidFill>
                  <a:srgbClr val="222B33"/>
                </a:solidFill>
                <a:latin typeface="Calibri"/>
              </a:rPr>
              <a:t>Feed-Forward</a:t>
            </a:r>
          </a:p>
          <a:p>
            <a:pPr algn="ctr"/>
            <a:r>
              <a:rPr sz="1600" b="1" i="0">
                <a:solidFill>
                  <a:srgbClr val="222B33"/>
                </a:solidFill>
                <a:latin typeface="Calibri"/>
              </a:rPr>
              <a:t>(FFN)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275320" y="3383280"/>
            <a:ext cx="228600" cy="0"/>
          </a:xfrm>
          <a:prstGeom prst="line">
            <a:avLst/>
          </a:prstGeom>
          <a:ln w="25400">
            <a:solidFill>
              <a:srgbClr val="6B737B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1">
                <a:solidFill>
                  <a:srgbClr val="6B737B"/>
                </a:solidFill>
                <a:latin typeface="Calibri"/>
              </a:rPr>
              <a:t>SmolLM2-135M  =  30 layers,  hidden size 2048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37B"/>
                </a:solidFill>
                <a:latin typeface="Calibri"/>
              </a:rPr>
              <a:t>P5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PART 1  —  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222B33"/>
                </a:solidFill>
                <a:latin typeface="Calibri"/>
              </a:rPr>
              <a:t>Two phases. One bottleneck.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2B33"/>
                </a:solidFill>
                <a:latin typeface="Calibri"/>
              </a:rPr>
              <a:t>Inference Has Two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297680" cy="4114800"/>
          </a:xfrm>
          <a:prstGeom prst="roundRect">
            <a:avLst/>
          </a:prstGeom>
          <a:solidFill>
            <a:srgbClr val="D6E6F4"/>
          </a:solidFill>
          <a:ln w="254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1F6FB2"/>
                </a:solidFill>
                <a:latin typeface="Calibri"/>
              </a:rPr>
              <a:t>PREFILL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222B33"/>
                </a:solidFill>
                <a:latin typeface="Calibri"/>
              </a:rPr>
              <a:t>process the INPUT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743200"/>
            <a:ext cx="60350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6776" y="2743200"/>
            <a:ext cx="60350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3432" y="2743200"/>
            <a:ext cx="60350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0087" y="2743200"/>
            <a:ext cx="60350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66744" y="2743200"/>
            <a:ext cx="60350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4114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all tokens at ONCE (parallel)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keeps hardware busy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COMPUTE-bound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"like training"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743200"/>
            <a:ext cx="2331720" cy="1097280"/>
          </a:xfrm>
          <a:prstGeom prst="roundRect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KV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88620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222B33"/>
                </a:solidFill>
                <a:latin typeface="Calibri"/>
              </a:rPr>
              <a:t>the bridge</a:t>
            </a:r>
          </a:p>
          <a:p>
            <a:pPr algn="ctr"/>
            <a:r>
              <a:rPr sz="1300" b="0" i="1">
                <a:solidFill>
                  <a:srgbClr val="222B33"/>
                </a:solidFill>
                <a:latin typeface="Calibri"/>
              </a:rPr>
              <a:t>(grows with length)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80" y="3291840"/>
            <a:ext cx="13716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23760" y="3291840"/>
            <a:ext cx="13716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1371600"/>
            <a:ext cx="4297680" cy="4114800"/>
          </a:xfrm>
          <a:prstGeom prst="roundRect">
            <a:avLst/>
          </a:prstGeom>
          <a:solidFill>
            <a:srgbClr val="F6DEDB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C0392B"/>
                </a:solidFill>
                <a:latin typeface="Calibri"/>
              </a:rPr>
              <a:t>DECODE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0574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222B33"/>
                </a:solidFill>
                <a:latin typeface="Calibri"/>
              </a:rPr>
              <a:t>generate the 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743200"/>
            <a:ext cx="731520" cy="6035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3044952"/>
            <a:ext cx="228600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915400" y="2743200"/>
            <a:ext cx="731520" cy="6035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46920" y="3044952"/>
            <a:ext cx="228600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875519" y="2743200"/>
            <a:ext cx="731520" cy="6035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566160"/>
            <a:ext cx="4114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ONE token at a time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sequential — can't parallelize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MEMORY-bound</a:t>
            </a:r>
          </a:p>
          <a:p>
            <a:pPr algn="l"/>
            <a:r>
              <a:rPr sz="1600" b="0" i="0">
                <a:solidFill>
                  <a:srgbClr val="222B33"/>
                </a:solidFill>
                <a:latin typeface="Calibri"/>
              </a:rPr>
              <a:t>• ← the real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37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2B33"/>
                </a:solidFill>
                <a:latin typeface="Calibri"/>
              </a:rPr>
              <a:t>The Autoregressive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2B33"/>
                </a:solidFill>
                <a:latin typeface="Calibri"/>
              </a:rPr>
              <a:t>auto = self   ·   regressive = depends on previous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371600" cy="822960"/>
          </a:xfrm>
          <a:prstGeom prst="round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"The"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2880360"/>
            <a:ext cx="41148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60320" y="2468880"/>
            <a:ext cx="1737360" cy="82296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79" y="2880360"/>
            <a:ext cx="41148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54879" y="2468880"/>
            <a:ext cx="1371600" cy="822960"/>
          </a:xfrm>
          <a:prstGeom prst="round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"cat"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79" y="2880360"/>
            <a:ext cx="41148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79" y="2468880"/>
            <a:ext cx="1737360" cy="82296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0" y="2880360"/>
            <a:ext cx="411479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78240" y="2468880"/>
            <a:ext cx="1371600" cy="822960"/>
          </a:xfrm>
          <a:prstGeom prst="round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"sat"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651760"/>
            <a:ext cx="1188720" cy="457200"/>
          </a:xfrm>
          <a:prstGeom prst="roundRect">
            <a:avLst/>
          </a:prstGeom>
          <a:solidFill>
            <a:srgbClr val="6B7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...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40679" y="3291840"/>
            <a:ext cx="0" cy="822960"/>
          </a:xfrm>
          <a:prstGeom prst="line">
            <a:avLst/>
          </a:prstGeom>
          <a:ln w="3810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417320" y="4114800"/>
            <a:ext cx="4023359" cy="0"/>
          </a:xfrm>
          <a:prstGeom prst="line">
            <a:avLst/>
          </a:prstGeom>
          <a:ln w="3810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17320" y="3291840"/>
            <a:ext cx="0" cy="822960"/>
          </a:xfrm>
          <a:prstGeom prst="line">
            <a:avLst/>
          </a:prstGeom>
          <a:ln w="381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0120" y="41605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feed the output back 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029200"/>
            <a:ext cx="9418320" cy="1005840"/>
          </a:xfrm>
          <a:prstGeom prst="roundRect">
            <a:avLst/>
          </a:prstGeom>
          <a:solidFill>
            <a:srgbClr val="F6DEDB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 i="0">
                <a:solidFill>
                  <a:srgbClr val="222B33"/>
                </a:solidFill>
                <a:latin typeface="Calibri"/>
              </a:rPr>
              <a:t>One token at a time → you can't compute token #2 before token #1 exists →</a:t>
            </a:r>
          </a:p>
          <a:p>
            <a:pPr algn="ctr"/>
            <a:r>
              <a:rPr sz="1800" b="1" i="0">
                <a:solidFill>
                  <a:srgbClr val="222B33"/>
                </a:solidFill>
                <a:latin typeface="Calibri"/>
              </a:rPr>
              <a:t>no parallelism → DECODE is memory-bound.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3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2B33"/>
                </a:solidFill>
                <a:latin typeface="Calibri"/>
              </a:rPr>
              <a:t>Inside a Decoder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828800" cy="914400"/>
          </a:xfrm>
          <a:prstGeom prst="round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23160" y="2286000"/>
            <a:ext cx="45720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26080" y="1828800"/>
            <a:ext cx="2011680" cy="91440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EMBEDDING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80" y="2286000"/>
            <a:ext cx="45720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0" y="1828800"/>
            <a:ext cx="3108960" cy="914400"/>
          </a:xfrm>
          <a:prstGeom prst="round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DECODER LAYER × 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2286000"/>
            <a:ext cx="45720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0" y="1828800"/>
            <a:ext cx="2377440" cy="91440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LM HEAD →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next token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788920"/>
            <a:ext cx="0" cy="457200"/>
          </a:xfrm>
          <a:prstGeom prst="line">
            <a:avLst/>
          </a:prstGeom>
          <a:ln w="3175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00400" y="3291840"/>
            <a:ext cx="3657600" cy="2286000"/>
          </a:xfrm>
          <a:prstGeom prst="roundRect">
            <a:avLst/>
          </a:prstGeom>
          <a:solidFill>
            <a:srgbClr val="D6E6F4"/>
          </a:solidFill>
          <a:ln w="254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33832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F6FB2"/>
                </a:solidFill>
                <a:latin typeface="Calibri"/>
              </a:rPr>
              <a:t>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88620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222B33"/>
                </a:solidFill>
                <a:latin typeface="Calibri"/>
              </a:rPr>
              <a:t>"gather context</a:t>
            </a:r>
          </a:p>
          <a:p>
            <a:pPr algn="ctr"/>
            <a:r>
              <a:rPr sz="1400" b="0" i="0">
                <a:solidFill>
                  <a:srgbClr val="222B33"/>
                </a:solidFill>
                <a:latin typeface="Calibri"/>
              </a:rPr>
              <a:t>from other words"</a:t>
            </a:r>
          </a:p>
          <a:p>
            <a:pPr algn="ctr"/>
            <a:r>
              <a:rPr sz="14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222B33"/>
                </a:solidFill>
                <a:latin typeface="Calibri"/>
              </a:rPr>
              <a:t>latency-sensitive</a:t>
            </a:r>
          </a:p>
          <a:p>
            <a:pPr algn="ctr"/>
            <a:r>
              <a:rPr sz="1400" b="0" i="0">
                <a:solidFill>
                  <a:srgbClr val="222B33"/>
                </a:solidFill>
                <a:latin typeface="Calibri"/>
              </a:rPr>
              <a:t>(many quick comparisons)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291840"/>
            <a:ext cx="3657600" cy="2286000"/>
          </a:xfrm>
          <a:prstGeom prst="roundRect">
            <a:avLst/>
          </a:prstGeom>
          <a:solidFill>
            <a:srgbClr val="F6DEDB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3832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  <a:latin typeface="Calibri"/>
              </a:rPr>
              <a:t>FFN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88620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222B33"/>
                </a:solidFill>
                <a:latin typeface="Calibri"/>
              </a:rPr>
              <a:t>"think about it</a:t>
            </a:r>
          </a:p>
          <a:p>
            <a:pPr algn="ctr"/>
            <a:r>
              <a:rPr sz="1400" b="0" i="0">
                <a:solidFill>
                  <a:srgbClr val="222B33"/>
                </a:solidFill>
                <a:latin typeface="Calibri"/>
              </a:rPr>
              <a:t>individually"</a:t>
            </a:r>
          </a:p>
          <a:p>
            <a:pPr algn="ctr"/>
            <a:r>
              <a:rPr sz="14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222B33"/>
                </a:solidFill>
                <a:latin typeface="Calibri"/>
              </a:rPr>
              <a:t>weight-intensive</a:t>
            </a:r>
          </a:p>
          <a:p>
            <a:pPr algn="ctr"/>
            <a:r>
              <a:rPr sz="1400" b="0" i="0">
                <a:solidFill>
                  <a:srgbClr val="222B33"/>
                </a:solidFill>
                <a:latin typeface="Calibri"/>
              </a:rPr>
              <a:t>(lots of stored data)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3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2B33"/>
                </a:solidFill>
                <a:latin typeface="Calibri"/>
              </a:rPr>
              <a:t>Attention  =  Q, K,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777240" cy="68580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81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2B33"/>
                </a:solidFill>
                <a:latin typeface="Calibri"/>
              </a:rPr>
              <a:t>what am I looking for?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777240" cy="685800"/>
          </a:xfrm>
          <a:prstGeom prst="roundRect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5000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2B33"/>
                </a:solidFill>
                <a:latin typeface="Calibri"/>
              </a:rPr>
              <a:t>what do I offer?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777240" cy="6858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21868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2B33"/>
                </a:solidFill>
                <a:latin typeface="Calibri"/>
              </a:rPr>
              <a:t>my actual content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194560"/>
            <a:ext cx="548640" cy="0"/>
          </a:xfrm>
          <a:prstGeom prst="line">
            <a:avLst/>
          </a:prstGeom>
          <a:ln w="38100">
            <a:solidFill>
              <a:srgbClr val="6B73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46520" y="1371600"/>
            <a:ext cx="5120640" cy="1737360"/>
          </a:xfrm>
          <a:prstGeom prst="round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score = Q·Kᵀ  →  ÷√dₖ  →  softmax  →  ×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D6E6F4"/>
                </a:solidFill>
                <a:latin typeface="Calibri"/>
              </a:rPr>
              <a:t>= a context-updated vector for the 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703320"/>
            <a:ext cx="7589520" cy="960120"/>
          </a:xfrm>
          <a:prstGeom prst="roundRect">
            <a:avLst/>
          </a:prstGeom>
          <a:solidFill>
            <a:srgbClr val="ECF0F3"/>
          </a:solidFill>
          <a:ln w="12700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600" b="1" i="0">
                <a:solidFill>
                  <a:srgbClr val="222B33"/>
                </a:solidFill>
                <a:latin typeface="Calibri"/>
              </a:rPr>
              <a:t>Attention  =  softmax( Q·Kᵀ / √dₖ ) · 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937760"/>
            <a:ext cx="10424160" cy="1188720"/>
          </a:xfrm>
          <a:prstGeom prst="roundRect">
            <a:avLst/>
          </a:prstGeom>
          <a:solidFill>
            <a:srgbClr val="D6E6F4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700" b="1" i="0">
                <a:solidFill>
                  <a:srgbClr val="222B33"/>
                </a:solidFill>
                <a:latin typeface="Calibri"/>
              </a:rPr>
              <a:t>"The bank was closed because the river flooded."</a:t>
            </a:r>
          </a:p>
          <a:p>
            <a:pPr algn="ctr"/>
            <a:r>
              <a:rPr sz="1700" b="1" i="0">
                <a:solidFill>
                  <a:srgbClr val="222B33"/>
                </a:solidFill>
                <a:latin typeface="Calibri"/>
              </a:rPr>
              <a:t>→ "bank" attends to "river" → it means LAND, not money.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3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2B33"/>
                </a:solidFill>
                <a:latin typeface="Calibri"/>
              </a:rPr>
              <a:t>The Memory Wall  —  the 'aha'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035040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05840" y="1645920"/>
            <a:ext cx="0" cy="3200400"/>
          </a:xfrm>
          <a:prstGeom prst="line">
            <a:avLst/>
          </a:prstGeom>
          <a:ln w="25400">
            <a:solidFill>
              <a:srgbClr val="222B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4846320"/>
            <a:ext cx="5577839" cy="0"/>
          </a:xfrm>
          <a:prstGeom prst="line">
            <a:avLst/>
          </a:prstGeom>
          <a:ln w="25400">
            <a:solidFill>
              <a:srgbClr val="222B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4173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37B"/>
                </a:solidFill>
                <a:latin typeface="Calibri"/>
              </a:rPr>
              <a:t>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59" y="4828031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37B"/>
                </a:solidFill>
                <a:latin typeface="Calibri"/>
              </a:rPr>
              <a:t>time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88720" y="1874520"/>
            <a:ext cx="5120639" cy="2788920"/>
          </a:xfrm>
          <a:prstGeom prst="line">
            <a:avLst/>
          </a:prstGeom>
          <a:ln w="50800">
            <a:solidFill>
              <a:srgbClr val="1F6F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80559" y="16916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6FB2"/>
                </a:solidFill>
                <a:latin typeface="Calibri"/>
              </a:rPr>
              <a:t>compute ↗↗↗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188720" y="3566159"/>
            <a:ext cx="5120639" cy="1005841"/>
          </a:xfrm>
          <a:prstGeom prst="line">
            <a:avLst/>
          </a:prstGeom>
          <a:ln w="508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23359" y="3520439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memory bandwidth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7432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22B33"/>
                </a:solidFill>
                <a:latin typeface="Calibri"/>
              </a:rPr>
              <a:t>THE GAP</a:t>
            </a:r>
          </a:p>
          <a:p>
            <a:pPr algn="ctr"/>
            <a:r>
              <a:rPr sz="1400" b="1" i="0">
                <a:solidFill>
                  <a:srgbClr val="222B33"/>
                </a:solidFill>
                <a:latin typeface="Calibri"/>
              </a:rPr>
              <a:t>= memory wall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417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2B33"/>
                </a:solidFill>
                <a:latin typeface="Calibri"/>
              </a:rPr>
              <a:t>Memory trade-off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874519"/>
            <a:ext cx="1097280" cy="502920"/>
          </a:xfrm>
          <a:prstGeom prst="rect">
            <a:avLst/>
          </a:prstGeom>
          <a:solidFill>
            <a:srgbClr val="ECF0F3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222B33"/>
                </a:solidFill>
                <a:latin typeface="Calibri"/>
              </a:rPr>
              <a:t>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874519"/>
            <a:ext cx="1371600" cy="502920"/>
          </a:xfrm>
          <a:prstGeom prst="rect">
            <a:avLst/>
          </a:prstGeom>
          <a:solidFill>
            <a:srgbClr val="ECF0F3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222B33"/>
                </a:solidFill>
                <a:latin typeface="Calibri"/>
              </a:rPr>
              <a:t>Speed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874519"/>
            <a:ext cx="1097280" cy="502920"/>
          </a:xfrm>
          <a:prstGeom prst="rect">
            <a:avLst/>
          </a:prstGeom>
          <a:solidFill>
            <a:srgbClr val="ECF0F3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222B33"/>
                </a:solidFill>
                <a:latin typeface="Calibri"/>
              </a:rPr>
              <a:t>Density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19" y="1874519"/>
            <a:ext cx="914400" cy="502920"/>
          </a:xfrm>
          <a:prstGeom prst="rect">
            <a:avLst/>
          </a:prstGeom>
          <a:solidFill>
            <a:srgbClr val="ECF0F3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222B33"/>
                </a:solidFill>
                <a:latin typeface="Calibri"/>
              </a:rPr>
              <a:t>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377439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SRAM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377439"/>
            <a:ext cx="1371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very fast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377439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19" y="2377439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$$$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880360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DRAM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880360"/>
            <a:ext cx="1371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slower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2880360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9919" y="288036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$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383280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HBM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383280"/>
            <a:ext cx="1371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high BW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3383280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19" y="338328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0" i="0">
                <a:solidFill>
                  <a:srgbClr val="222B33"/>
                </a:solidFill>
                <a:latin typeface="Calibri"/>
              </a:rPr>
              <a:t>$$$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4297680"/>
            <a:ext cx="4480560" cy="1371600"/>
          </a:xfrm>
          <a:prstGeom prst="roundRect">
            <a:avLst/>
          </a:prstGeom>
          <a:solidFill>
            <a:srgbClr val="F6DEDB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222B33"/>
                </a:solidFill>
                <a:latin typeface="Calibri"/>
              </a:rPr>
              <a:t>Decode lives in the memory-bound regime → it starves waiting for data.</a:t>
            </a:r>
          </a:p>
          <a:p>
            <a:pPr algn="ctr"/>
            <a:r>
              <a:rPr sz="1400" b="1" i="0">
                <a:solidFill>
                  <a:srgbClr val="222B33"/>
                </a:solidFill>
                <a:latin typeface="Calibri"/>
              </a:rPr>
              <a:t>No GPU/TPU was designed just for decode.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3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2B33"/>
                </a:solidFill>
                <a:latin typeface="Calibri"/>
              </a:rPr>
              <a:t>Why a Tiny Model?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589520" cy="731520"/>
          </a:xfrm>
          <a:prstGeom prst="roundRect">
            <a:avLst/>
          </a:prstGeom>
          <a:solidFill>
            <a:srgbClr val="ECF0F3"/>
          </a:solidFill>
          <a:ln w="12700">
            <a:solidFill>
              <a:srgbClr val="6B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222B33"/>
                </a:solidFill>
                <a:latin typeface="Calibri"/>
              </a:rPr>
              <a:t>Many capable LLMs   (7B, 13B, ...)   — too big for the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286000"/>
            <a:ext cx="5760720" cy="457200"/>
          </a:xfrm>
          <a:prstGeom prst="rect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constraint 1:   1 GB DDR3 on ZC702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0" y="2852928"/>
            <a:ext cx="4937759" cy="457200"/>
          </a:xfrm>
          <a:prstGeom prst="rect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constraint 2:   64-bit AXI bus @ 93.75 MHz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3419856"/>
            <a:ext cx="41148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constraint 3:   decoder-only + GQA runtime only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4023360"/>
            <a:ext cx="0" cy="411480"/>
          </a:xfrm>
          <a:prstGeom prst="line">
            <a:avLst/>
          </a:prstGeom>
          <a:ln w="50800">
            <a:solidFill>
              <a:srgbClr val="222B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4480560"/>
            <a:ext cx="4846320" cy="13716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SmolLM2-135M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141 MB @ INT4  ·  30 layers  ·  hidden 2048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9436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22B33"/>
                </a:solidFill>
                <a:latin typeface="Calibri"/>
              </a:rPr>
              <a:t>✓ fits   ✓ all kernels verified   ✓ compressible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66344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B737B"/>
                </a:solidFill>
                <a:latin typeface="Calibri"/>
              </a:rPr>
              <a:t>Qwen2.5-0.5B = upgrade path</a:t>
            </a:r>
          </a:p>
          <a:p>
            <a:pPr algn="l"/>
            <a:r>
              <a:rPr sz="1300" b="0" i="1">
                <a:solidFill>
                  <a:srgbClr val="6B737B"/>
                </a:solidFill>
                <a:latin typeface="Calibri"/>
              </a:rPr>
              <a:t>(blocked: missing bias tensors → future work)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3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D6E6F4"/>
                </a:solidFill>
                <a:latin typeface="Calibri"/>
              </a:rPr>
              <a:t>The one sentence that ties it all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828800"/>
            <a:ext cx="6675120" cy="65836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LLM = next-token predictor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670048"/>
            <a:ext cx="6675120" cy="65836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Decode is sequential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511296"/>
            <a:ext cx="6675120" cy="65836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→ memory-bound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352544"/>
            <a:ext cx="6675120" cy="65836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→ hits the memory wall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193792"/>
            <a:ext cx="6675120" cy="65836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→ need custom hardware + a tiny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→ this is exactly why our project exists (and what Section 2.2 builds).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